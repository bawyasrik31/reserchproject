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94" r:id="rId3"/>
    <p:sldId id="295" r:id="rId4"/>
    <p:sldId id="302" r:id="rId5"/>
    <p:sldId id="298" r:id="rId6"/>
    <p:sldId id="303" r:id="rId7"/>
    <p:sldId id="304" r:id="rId8"/>
    <p:sldId id="301" r:id="rId9"/>
    <p:sldId id="296" r:id="rId10"/>
    <p:sldId id="297" r:id="rId11"/>
    <p:sldId id="305" r:id="rId12"/>
  </p:sldIdLst>
  <p:sldSz cx="12192000" cy="6858000"/>
  <p:notesSz cx="12192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939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22" roundtripDataSignature="AMtx7mjqaEJF3Jv29g/oR/va8+a7sQBm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A98544-527F-446E-AFB5-A18C2AC9BF69}" v="9" dt="2026-06-24T19:20:43.529"/>
  </p1510:revLst>
</p1510:revInfo>
</file>

<file path=ppt/tableStyles.xml><?xml version="1.0" encoding="utf-8"?>
<a:tblStyleLst xmlns:a="http://schemas.openxmlformats.org/drawingml/2006/main" def="{491DBE5D-E312-4B21-9E5E-1AE7C8B9E3E7}">
  <a:tblStyle styleId="{491DBE5D-E312-4B21-9E5E-1AE7C8B9E3E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chemeClr val="dk1">
              <a:alpha val="20000"/>
            </a:scheme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chemeClr val="dk1">
              <a:alpha val="20000"/>
            </a:scheme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005" autoAdjust="0"/>
  </p:normalViewPr>
  <p:slideViewPr>
    <p:cSldViewPr snapToGrid="0">
      <p:cViewPr varScale="1">
        <p:scale>
          <a:sx n="76" d="100"/>
          <a:sy n="76" d="100"/>
        </p:scale>
        <p:origin x="917" y="53"/>
      </p:cViewPr>
      <p:guideLst>
        <p:guide orient="horz" pos="2939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customschemas.google.com/relationships/presentationmetadata" Target="meta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wyasrik@gmail.com" userId="dab272d4e58ab70b" providerId="LiveId" clId="{3E035499-5E36-4953-923B-11A1A501DF79}"/>
    <pc:docChg chg="undo redo custSel addSld delSld modSld sldOrd">
      <pc:chgData name="bawyasrik@gmail.com" userId="dab272d4e58ab70b" providerId="LiveId" clId="{3E035499-5E36-4953-923B-11A1A501DF79}" dt="2026-06-24T19:23:24.915" v="291" actId="14100"/>
      <pc:docMkLst>
        <pc:docMk/>
      </pc:docMkLst>
      <pc:sldChg chg="addSp delSp modSp mod">
        <pc:chgData name="bawyasrik@gmail.com" userId="dab272d4e58ab70b" providerId="LiveId" clId="{3E035499-5E36-4953-923B-11A1A501DF79}" dt="2026-06-24T17:05:19.979" v="142" actId="1076"/>
        <pc:sldMkLst>
          <pc:docMk/>
          <pc:sldMk cId="0" sldId="256"/>
        </pc:sldMkLst>
        <pc:spChg chg="add mod">
          <ac:chgData name="bawyasrik@gmail.com" userId="dab272d4e58ab70b" providerId="LiveId" clId="{3E035499-5E36-4953-923B-11A1A501DF79}" dt="2026-06-24T17:03:58.660" v="104" actId="14100"/>
          <ac:spMkLst>
            <pc:docMk/>
            <pc:sldMk cId="0" sldId="256"/>
            <ac:spMk id="2" creationId="{10ADC1BF-28E6-BF98-ECC3-1D6E1BB08456}"/>
          </ac:spMkLst>
        </pc:spChg>
        <pc:spChg chg="add del mod">
          <ac:chgData name="bawyasrik@gmail.com" userId="dab272d4e58ab70b" providerId="LiveId" clId="{3E035499-5E36-4953-923B-11A1A501DF79}" dt="2026-06-24T17:02:40.856" v="86" actId="478"/>
          <ac:spMkLst>
            <pc:docMk/>
            <pc:sldMk cId="0" sldId="256"/>
            <ac:spMk id="5" creationId="{3B4FD852-38CD-E1FE-602C-F499D1421EF9}"/>
          </ac:spMkLst>
        </pc:spChg>
        <pc:spChg chg="mod">
          <ac:chgData name="bawyasrik@gmail.com" userId="dab272d4e58ab70b" providerId="LiveId" clId="{3E035499-5E36-4953-923B-11A1A501DF79}" dt="2026-06-24T17:05:19.979" v="142" actId="1076"/>
          <ac:spMkLst>
            <pc:docMk/>
            <pc:sldMk cId="0" sldId="256"/>
            <ac:spMk id="45" creationId="{00000000-0000-0000-0000-000000000000}"/>
          </ac:spMkLst>
        </pc:spChg>
        <pc:spChg chg="mod">
          <ac:chgData name="bawyasrik@gmail.com" userId="dab272d4e58ab70b" providerId="LiveId" clId="{3E035499-5E36-4953-923B-11A1A501DF79}" dt="2026-06-24T17:05:05.201" v="140" actId="20577"/>
          <ac:spMkLst>
            <pc:docMk/>
            <pc:sldMk cId="0" sldId="256"/>
            <ac:spMk id="49" creationId="{00000000-0000-0000-0000-000000000000}"/>
          </ac:spMkLst>
        </pc:spChg>
        <pc:spChg chg="del mod">
          <ac:chgData name="bawyasrik@gmail.com" userId="dab272d4e58ab70b" providerId="LiveId" clId="{3E035499-5E36-4953-923B-11A1A501DF79}" dt="2026-06-24T17:02:30.998" v="83" actId="478"/>
          <ac:spMkLst>
            <pc:docMk/>
            <pc:sldMk cId="0" sldId="256"/>
            <ac:spMk id="54" creationId="{00000000-0000-0000-0000-000000000000}"/>
          </ac:spMkLst>
        </pc:spChg>
        <pc:picChg chg="add del">
          <ac:chgData name="bawyasrik@gmail.com" userId="dab272d4e58ab70b" providerId="LiveId" clId="{3E035499-5E36-4953-923B-11A1A501DF79}" dt="2026-06-24T17:02:37.953" v="85" actId="478"/>
          <ac:picMkLst>
            <pc:docMk/>
            <pc:sldMk cId="0" sldId="256"/>
            <ac:picMk id="44" creationId="{00000000-0000-0000-0000-000000000000}"/>
          </ac:picMkLst>
        </pc:picChg>
      </pc:sldChg>
      <pc:sldChg chg="modSp mod">
        <pc:chgData name="bawyasrik@gmail.com" userId="dab272d4e58ab70b" providerId="LiveId" clId="{3E035499-5E36-4953-923B-11A1A501DF79}" dt="2026-06-24T17:49:17.573" v="208" actId="20577"/>
        <pc:sldMkLst>
          <pc:docMk/>
          <pc:sldMk cId="3003950218" sldId="294"/>
        </pc:sldMkLst>
        <pc:spChg chg="mod">
          <ac:chgData name="bawyasrik@gmail.com" userId="dab272d4e58ab70b" providerId="LiveId" clId="{3E035499-5E36-4953-923B-11A1A501DF79}" dt="2026-06-24T17:49:17.573" v="208" actId="20577"/>
          <ac:spMkLst>
            <pc:docMk/>
            <pc:sldMk cId="3003950218" sldId="294"/>
            <ac:spMk id="2" creationId="{AD9618E4-B710-75E7-A523-1CECAF46E303}"/>
          </ac:spMkLst>
        </pc:spChg>
      </pc:sldChg>
      <pc:sldChg chg="ord">
        <pc:chgData name="bawyasrik@gmail.com" userId="dab272d4e58ab70b" providerId="LiveId" clId="{3E035499-5E36-4953-923B-11A1A501DF79}" dt="2026-06-24T18:26:36.878" v="212"/>
        <pc:sldMkLst>
          <pc:docMk/>
          <pc:sldMk cId="812454635" sldId="295"/>
        </pc:sldMkLst>
      </pc:sldChg>
      <pc:sldChg chg="del">
        <pc:chgData name="bawyasrik@gmail.com" userId="dab272d4e58ab70b" providerId="LiveId" clId="{3E035499-5E36-4953-923B-11A1A501DF79}" dt="2026-06-24T17:51:59.434" v="209" actId="47"/>
        <pc:sldMkLst>
          <pc:docMk/>
          <pc:sldMk cId="760740540" sldId="299"/>
        </pc:sldMkLst>
      </pc:sldChg>
      <pc:sldChg chg="modSp mod">
        <pc:chgData name="bawyasrik@gmail.com" userId="dab272d4e58ab70b" providerId="LiveId" clId="{3E035499-5E36-4953-923B-11A1A501DF79}" dt="2026-06-24T17:52:21.889" v="210" actId="255"/>
        <pc:sldMkLst>
          <pc:docMk/>
          <pc:sldMk cId="1453599722" sldId="301"/>
        </pc:sldMkLst>
        <pc:spChg chg="mod">
          <ac:chgData name="bawyasrik@gmail.com" userId="dab272d4e58ab70b" providerId="LiveId" clId="{3E035499-5E36-4953-923B-11A1A501DF79}" dt="2026-06-24T17:48:15.337" v="145" actId="1076"/>
          <ac:spMkLst>
            <pc:docMk/>
            <pc:sldMk cId="1453599722" sldId="301"/>
            <ac:spMk id="2" creationId="{3E3F471A-3F0B-1820-1DDC-786332BE637F}"/>
          </ac:spMkLst>
        </pc:spChg>
        <pc:spChg chg="mod">
          <ac:chgData name="bawyasrik@gmail.com" userId="dab272d4e58ab70b" providerId="LiveId" clId="{3E035499-5E36-4953-923B-11A1A501DF79}" dt="2026-06-24T15:05:04.137" v="20" actId="14100"/>
          <ac:spMkLst>
            <pc:docMk/>
            <pc:sldMk cId="1453599722" sldId="301"/>
            <ac:spMk id="4" creationId="{26829362-1B8D-9B96-98AF-44C0E6BE4AD9}"/>
          </ac:spMkLst>
        </pc:spChg>
        <pc:spChg chg="mod">
          <ac:chgData name="bawyasrik@gmail.com" userId="dab272d4e58ab70b" providerId="LiveId" clId="{3E035499-5E36-4953-923B-11A1A501DF79}" dt="2026-06-24T17:52:21.889" v="210" actId="255"/>
          <ac:spMkLst>
            <pc:docMk/>
            <pc:sldMk cId="1453599722" sldId="301"/>
            <ac:spMk id="5" creationId="{5F67D12B-E534-3A85-DB2A-59EE1CAFA3FC}"/>
          </ac:spMkLst>
        </pc:spChg>
      </pc:sldChg>
      <pc:sldChg chg="modSp mod">
        <pc:chgData name="bawyasrik@gmail.com" userId="dab272d4e58ab70b" providerId="LiveId" clId="{3E035499-5E36-4953-923B-11A1A501DF79}" dt="2026-06-24T17:08:02.300" v="144" actId="1076"/>
        <pc:sldMkLst>
          <pc:docMk/>
          <pc:sldMk cId="958722280" sldId="302"/>
        </pc:sldMkLst>
        <pc:spChg chg="mod">
          <ac:chgData name="bawyasrik@gmail.com" userId="dab272d4e58ab70b" providerId="LiveId" clId="{3E035499-5E36-4953-923B-11A1A501DF79}" dt="2026-06-24T17:08:02.300" v="144" actId="1076"/>
          <ac:spMkLst>
            <pc:docMk/>
            <pc:sldMk cId="958722280" sldId="302"/>
            <ac:spMk id="5" creationId="{F5F22BC0-508E-570A-78A5-0C692257DB0A}"/>
          </ac:spMkLst>
        </pc:spChg>
      </pc:sldChg>
      <pc:sldChg chg="addSp delSp modSp new mod">
        <pc:chgData name="bawyasrik@gmail.com" userId="dab272d4e58ab70b" providerId="LiveId" clId="{3E035499-5E36-4953-923B-11A1A501DF79}" dt="2026-06-24T19:23:24.915" v="291" actId="14100"/>
        <pc:sldMkLst>
          <pc:docMk/>
          <pc:sldMk cId="2307640431" sldId="303"/>
        </pc:sldMkLst>
        <pc:spChg chg="mod">
          <ac:chgData name="bawyasrik@gmail.com" userId="dab272d4e58ab70b" providerId="LiveId" clId="{3E035499-5E36-4953-923B-11A1A501DF79}" dt="2026-06-24T18:39:52.389" v="223" actId="122"/>
          <ac:spMkLst>
            <pc:docMk/>
            <pc:sldMk cId="2307640431" sldId="303"/>
            <ac:spMk id="2" creationId="{DBA007CF-9DD8-A1C2-BF67-68406DF1A0D6}"/>
          </ac:spMkLst>
        </pc:spChg>
        <pc:spChg chg="del">
          <ac:chgData name="bawyasrik@gmail.com" userId="dab272d4e58ab70b" providerId="LiveId" clId="{3E035499-5E36-4953-923B-11A1A501DF79}" dt="2026-06-24T18:28:49.623" v="215" actId="478"/>
          <ac:spMkLst>
            <pc:docMk/>
            <pc:sldMk cId="2307640431" sldId="303"/>
            <ac:spMk id="3" creationId="{C328D2D9-2AA3-C37E-6C95-AA791F7950EE}"/>
          </ac:spMkLst>
        </pc:spChg>
        <pc:spChg chg="add del mod">
          <ac:chgData name="bawyasrik@gmail.com" userId="dab272d4e58ab70b" providerId="LiveId" clId="{3E035499-5E36-4953-923B-11A1A501DF79}" dt="2026-06-24T18:44:32.145" v="254" actId="478"/>
          <ac:spMkLst>
            <pc:docMk/>
            <pc:sldMk cId="2307640431" sldId="303"/>
            <ac:spMk id="6" creationId="{A54BA8EA-EC00-DA89-468A-DCF724FF8CB4}"/>
          </ac:spMkLst>
        </pc:spChg>
        <pc:graphicFrameChg chg="add mod">
          <ac:chgData name="bawyasrik@gmail.com" userId="dab272d4e58ab70b" providerId="LiveId" clId="{3E035499-5E36-4953-923B-11A1A501DF79}" dt="2026-06-24T18:42:45.866" v="228"/>
          <ac:graphicFrameMkLst>
            <pc:docMk/>
            <pc:sldMk cId="2307640431" sldId="303"/>
            <ac:graphicFrameMk id="7" creationId="{5B2EC5DB-EC6B-FD0D-3CFD-C0C96C5B1316}"/>
          </ac:graphicFrameMkLst>
        </pc:graphicFrameChg>
        <pc:graphicFrameChg chg="add mod">
          <ac:chgData name="bawyasrik@gmail.com" userId="dab272d4e58ab70b" providerId="LiveId" clId="{3E035499-5E36-4953-923B-11A1A501DF79}" dt="2026-06-24T18:42:45.866" v="228"/>
          <ac:graphicFrameMkLst>
            <pc:docMk/>
            <pc:sldMk cId="2307640431" sldId="303"/>
            <ac:graphicFrameMk id="8" creationId="{03949611-3374-7051-4D34-F70C3174C562}"/>
          </ac:graphicFrameMkLst>
        </pc:graphicFrameChg>
        <pc:graphicFrameChg chg="add mod">
          <ac:chgData name="bawyasrik@gmail.com" userId="dab272d4e58ab70b" providerId="LiveId" clId="{3E035499-5E36-4953-923B-11A1A501DF79}" dt="2026-06-24T18:42:45.866" v="228"/>
          <ac:graphicFrameMkLst>
            <pc:docMk/>
            <pc:sldMk cId="2307640431" sldId="303"/>
            <ac:graphicFrameMk id="9" creationId="{69150494-886C-FBB6-8839-E0B42BADC3DA}"/>
          </ac:graphicFrameMkLst>
        </pc:graphicFrameChg>
        <pc:graphicFrameChg chg="add mod">
          <ac:chgData name="bawyasrik@gmail.com" userId="dab272d4e58ab70b" providerId="LiveId" clId="{3E035499-5E36-4953-923B-11A1A501DF79}" dt="2026-06-24T18:42:45.866" v="228"/>
          <ac:graphicFrameMkLst>
            <pc:docMk/>
            <pc:sldMk cId="2307640431" sldId="303"/>
            <ac:graphicFrameMk id="10" creationId="{D7C15441-C2BF-D6B7-069A-56C658E60389}"/>
          </ac:graphicFrameMkLst>
        </pc:graphicFrameChg>
        <pc:graphicFrameChg chg="add mod">
          <ac:chgData name="bawyasrik@gmail.com" userId="dab272d4e58ab70b" providerId="LiveId" clId="{3E035499-5E36-4953-923B-11A1A501DF79}" dt="2026-06-24T18:42:45.866" v="228"/>
          <ac:graphicFrameMkLst>
            <pc:docMk/>
            <pc:sldMk cId="2307640431" sldId="303"/>
            <ac:graphicFrameMk id="11" creationId="{D769AB02-7B90-79A2-3ECA-6D78EBBEADB9}"/>
          </ac:graphicFrameMkLst>
        </pc:graphicFrameChg>
        <pc:graphicFrameChg chg="add mod modGraphic">
          <ac:chgData name="bawyasrik@gmail.com" userId="dab272d4e58ab70b" providerId="LiveId" clId="{3E035499-5E36-4953-923B-11A1A501DF79}" dt="2026-06-24T18:43:30.831" v="244" actId="14100"/>
          <ac:graphicFrameMkLst>
            <pc:docMk/>
            <pc:sldMk cId="2307640431" sldId="303"/>
            <ac:graphicFrameMk id="12" creationId="{8668928F-1708-BE7B-EF58-CB44FDD9A5DA}"/>
          </ac:graphicFrameMkLst>
        </pc:graphicFrameChg>
        <pc:graphicFrameChg chg="add del mod modGraphic">
          <ac:chgData name="bawyasrik@gmail.com" userId="dab272d4e58ab70b" providerId="LiveId" clId="{3E035499-5E36-4953-923B-11A1A501DF79}" dt="2026-06-24T18:48:35.210" v="260" actId="478"/>
          <ac:graphicFrameMkLst>
            <pc:docMk/>
            <pc:sldMk cId="2307640431" sldId="303"/>
            <ac:graphicFrameMk id="13" creationId="{EF820764-332D-4F54-5130-AA263A6E190C}"/>
          </ac:graphicFrameMkLst>
        </pc:graphicFrameChg>
        <pc:graphicFrameChg chg="add mod modGraphic">
          <ac:chgData name="bawyasrik@gmail.com" userId="dab272d4e58ab70b" providerId="LiveId" clId="{3E035499-5E36-4953-923B-11A1A501DF79}" dt="2026-06-24T19:23:24.915" v="291" actId="14100"/>
          <ac:graphicFrameMkLst>
            <pc:docMk/>
            <pc:sldMk cId="2307640431" sldId="303"/>
            <ac:graphicFrameMk id="14" creationId="{87ECFDFB-5307-0F8F-27E7-B8CA544D2B32}"/>
          </ac:graphicFrameMkLst>
        </pc:graphicFrameChg>
      </pc:sldChg>
      <pc:sldChg chg="addSp modSp new mod">
        <pc:chgData name="bawyasrik@gmail.com" userId="dab272d4e58ab70b" providerId="LiveId" clId="{3E035499-5E36-4953-923B-11A1A501DF79}" dt="2026-06-24T19:23:10.636" v="289" actId="14734"/>
        <pc:sldMkLst>
          <pc:docMk/>
          <pc:sldMk cId="381567253" sldId="304"/>
        </pc:sldMkLst>
        <pc:graphicFrameChg chg="add mod modGraphic">
          <ac:chgData name="bawyasrik@gmail.com" userId="dab272d4e58ab70b" providerId="LiveId" clId="{3E035499-5E36-4953-923B-11A1A501DF79}" dt="2026-06-24T19:23:10.636" v="289" actId="14734"/>
          <ac:graphicFrameMkLst>
            <pc:docMk/>
            <pc:sldMk cId="381567253" sldId="304"/>
            <ac:graphicFrameMk id="3" creationId="{2350FB03-EEEB-658D-D626-C7B5473309C3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0177185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  <p:sp>
        <p:nvSpPr>
          <p:cNvPr id="42" name="Google Shape;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8914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2"/>
          <p:cNvSpPr txBox="1">
            <a:spLocks noGrp="1"/>
          </p:cNvSpPr>
          <p:nvPr>
            <p:ph type="title"/>
          </p:nvPr>
        </p:nvSpPr>
        <p:spPr>
          <a:xfrm>
            <a:off x="3670591" y="1934454"/>
            <a:ext cx="4850817" cy="1000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4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body" idx="1"/>
          </p:nvPr>
        </p:nvSpPr>
        <p:spPr>
          <a:xfrm>
            <a:off x="1322908" y="2227490"/>
            <a:ext cx="9546183" cy="17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2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ldNum" idx="12"/>
          </p:nvPr>
        </p:nvSpPr>
        <p:spPr>
          <a:xfrm>
            <a:off x="11034279" y="6514910"/>
            <a:ext cx="245109" cy="281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marR="0" lvl="1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marR="0" lvl="2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marR="0" lvl="3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marR="0" lvl="4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marR="0" lvl="5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marR="0" lvl="6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marR="0" lvl="7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marR="0" lvl="8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4"/>
          <p:cNvSpPr txBox="1">
            <a:spLocks noGrp="1"/>
          </p:cNvSpPr>
          <p:nvPr>
            <p:ph type="sldNum" idx="12"/>
          </p:nvPr>
        </p:nvSpPr>
        <p:spPr>
          <a:xfrm>
            <a:off x="11034279" y="6514910"/>
            <a:ext cx="245109" cy="281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marR="0" lvl="1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marR="0" lvl="2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marR="0" lvl="3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marR="0" lvl="4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marR="0" lvl="5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marR="0" lvl="6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marR="0" lvl="7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marR="0" lvl="8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sldNum" idx="12"/>
          </p:nvPr>
        </p:nvSpPr>
        <p:spPr>
          <a:xfrm>
            <a:off x="11034279" y="6514910"/>
            <a:ext cx="245109" cy="281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marR="0" lvl="1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marR="0" lvl="2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marR="0" lvl="3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marR="0" lvl="4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marR="0" lvl="5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marR="0" lvl="6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marR="0" lvl="7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marR="0" lvl="8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1"/>
          <p:cNvSpPr txBox="1">
            <a:spLocks noGrp="1"/>
          </p:cNvSpPr>
          <p:nvPr>
            <p:ph type="title"/>
          </p:nvPr>
        </p:nvSpPr>
        <p:spPr>
          <a:xfrm>
            <a:off x="3670591" y="1934454"/>
            <a:ext cx="4850817" cy="1000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body" idx="1"/>
          </p:nvPr>
        </p:nvSpPr>
        <p:spPr>
          <a:xfrm>
            <a:off x="1322908" y="2227490"/>
            <a:ext cx="9546183" cy="17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1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sldNum" idx="12"/>
          </p:nvPr>
        </p:nvSpPr>
        <p:spPr>
          <a:xfrm>
            <a:off x="11034279" y="6514910"/>
            <a:ext cx="245109" cy="281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marR="0" lvl="1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marR="0" lvl="2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marR="0" lvl="3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marR="0" lvl="4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marR="0" lvl="5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marR="0" lvl="6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marR="0" lvl="7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marR="0" lvl="8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3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awyasrik31/Reserchproject.git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741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"/>
          <p:cNvSpPr txBox="1"/>
          <p:nvPr/>
        </p:nvSpPr>
        <p:spPr>
          <a:xfrm>
            <a:off x="8120516" y="4223806"/>
            <a:ext cx="4585712" cy="149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algn="ctr"/>
            <a:r>
              <a:rPr lang="en-IN" sz="2400" b="1" dirty="0">
                <a:latin typeface="Times New Roman"/>
              </a:rPr>
              <a:t>Mentor</a:t>
            </a:r>
            <a:endParaRPr lang="en-IN" sz="2400" dirty="0">
              <a:latin typeface="Times New Roman"/>
            </a:endParaRPr>
          </a:p>
          <a:p>
            <a:pPr algn="ctr"/>
            <a:r>
              <a:rPr lang="en-IN" sz="2400" dirty="0">
                <a:latin typeface="Times New Roman"/>
              </a:rPr>
              <a:t>Ms. S Kavitha</a:t>
            </a:r>
          </a:p>
          <a:p>
            <a:pPr algn="ctr"/>
            <a:r>
              <a:rPr lang="en-IN" sz="2400" dirty="0">
                <a:latin typeface="Times New Roman"/>
              </a:rPr>
              <a:t>Assistant professor, </a:t>
            </a:r>
            <a:r>
              <a:rPr lang="en-IN" sz="2400" dirty="0" err="1">
                <a:latin typeface="Times New Roman"/>
              </a:rPr>
              <a:t>SrG</a:t>
            </a:r>
            <a:endParaRPr lang="en-IN" sz="2400" dirty="0">
              <a:latin typeface="Times New Roman"/>
            </a:endParaRPr>
          </a:p>
          <a:p>
            <a:pPr algn="ctr"/>
            <a:r>
              <a:rPr lang="en-IN" sz="2400" dirty="0">
                <a:latin typeface="Times New Roman"/>
                <a:cs typeface="Times New Roman"/>
              </a:rPr>
              <a:t> Dept of CSE</a:t>
            </a:r>
          </a:p>
        </p:txBody>
      </p:sp>
      <p:sp>
        <p:nvSpPr>
          <p:cNvPr id="49" name="Google Shape;49;p1"/>
          <p:cNvSpPr txBox="1"/>
          <p:nvPr/>
        </p:nvSpPr>
        <p:spPr>
          <a:xfrm>
            <a:off x="2685327" y="3885252"/>
            <a:ext cx="3892504" cy="2167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b="1" dirty="0">
                <a:solidFill>
                  <a:schemeClr val="dk1"/>
                </a:solidFill>
                <a:latin typeface="Times New Roman"/>
                <a:cs typeface="Times New Roman"/>
              </a:rPr>
              <a:t>Date : </a:t>
            </a:r>
            <a:r>
              <a:rPr lang="en-US" sz="2000" dirty="0">
                <a:solidFill>
                  <a:schemeClr val="dk1"/>
                </a:solidFill>
                <a:latin typeface="Times New Roman"/>
                <a:cs typeface="Times New Roman"/>
              </a:rPr>
              <a:t>25.06.2026</a:t>
            </a:r>
            <a:endParaRPr lang="en-US" sz="2000" b="1" dirty="0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 marL="127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b="1" dirty="0">
                <a:solidFill>
                  <a:schemeClr val="dk1"/>
                </a:solidFill>
                <a:latin typeface="Times New Roman"/>
                <a:cs typeface="Times New Roman"/>
              </a:rPr>
              <a:t>Team Members:</a:t>
            </a:r>
          </a:p>
          <a:p>
            <a:pPr marL="12700">
              <a:buSzPts val="1800"/>
            </a:pPr>
            <a:r>
              <a:rPr lang="en-US" sz="2000" dirty="0">
                <a:solidFill>
                  <a:schemeClr val="dk1"/>
                </a:solidFill>
                <a:latin typeface="Times New Roman"/>
                <a:cs typeface="Times New Roman"/>
              </a:rPr>
              <a:t>22CSR090 - Karunya S</a:t>
            </a:r>
            <a:endParaRPr lang="en-US" sz="2000" b="1" dirty="0">
              <a:solidFill>
                <a:schemeClr val="dk1"/>
              </a:solidFill>
              <a:latin typeface="Times New Roman"/>
              <a:cs typeface="Times New Roman"/>
            </a:endParaRPr>
          </a:p>
          <a:p>
            <a:r>
              <a:rPr lang="en-IN" sz="2000" dirty="0">
                <a:solidFill>
                  <a:schemeClr val="tx1"/>
                </a:solidFill>
                <a:latin typeface="Times New Roman"/>
              </a:rPr>
              <a:t>23CSR031 - Bawyasri K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/>
              </a:rPr>
              <a:t>23CSR040 - Deepika  M</a:t>
            </a:r>
            <a:endParaRPr lang="en-US" sz="2000" b="1" dirty="0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 marL="12700">
              <a:buSzPts val="1800"/>
            </a:pPr>
            <a:r>
              <a:rPr lang="en-IN" sz="2000" dirty="0">
                <a:solidFill>
                  <a:schemeClr val="tx1"/>
                </a:solidFill>
                <a:latin typeface="Times New Roman"/>
              </a:rPr>
              <a:t>23CSR043 - Dhanush S</a:t>
            </a:r>
            <a:endParaRPr lang="en-US" sz="2000" i="0" u="none" strike="noStrike" cap="none" dirty="0">
              <a:solidFill>
                <a:schemeClr val="dk1"/>
              </a:solidFill>
              <a:latin typeface="Times New Roman"/>
              <a:cs typeface="Times New Roman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0A8F8C-D134-80A5-D8F4-A178D4470C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40" y="1104807"/>
            <a:ext cx="2390314" cy="13982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0ADC1BF-28E6-BF98-ECC3-1D6E1BB08456}"/>
              </a:ext>
            </a:extLst>
          </p:cNvPr>
          <p:cNvSpPr txBox="1"/>
          <p:nvPr/>
        </p:nvSpPr>
        <p:spPr>
          <a:xfrm>
            <a:off x="2449354" y="564106"/>
            <a:ext cx="960611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the Mamba, Transformer, and CNN Architectures in the NIH ChestX-Ray14 Dataset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08B1EC-2E4A-3E95-63B3-EEB58BC8ADA7}"/>
              </a:ext>
            </a:extLst>
          </p:cNvPr>
          <p:cNvSpPr txBox="1"/>
          <p:nvPr/>
        </p:nvSpPr>
        <p:spPr>
          <a:xfrm>
            <a:off x="4147409" y="2780603"/>
            <a:ext cx="63909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22CSP72 – PROJECT WORK II PHASE I</a:t>
            </a:r>
          </a:p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0F7DAE-6F87-A16F-94ED-04C83928CA0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722537" y="6357593"/>
            <a:ext cx="245109" cy="281304"/>
          </a:xfrm>
        </p:spPr>
        <p:txBody>
          <a:bodyPr/>
          <a:lstStyle/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 dirty="0"/>
          </a:p>
        </p:txBody>
      </p:sp>
      <p:sp>
        <p:nvSpPr>
          <p:cNvPr id="6" name="Google Shape;73;g2588bb4af59_0_6">
            <a:extLst>
              <a:ext uri="{FF2B5EF4-FFF2-40B4-BE49-F238E27FC236}">
                <a16:creationId xmlns:a16="http://schemas.microsoft.com/office/drawing/2014/main" id="{71C0581B-B12A-171C-64A8-47F36DF5F67A}"/>
              </a:ext>
            </a:extLst>
          </p:cNvPr>
          <p:cNvSpPr txBox="1">
            <a:spLocks/>
          </p:cNvSpPr>
          <p:nvPr/>
        </p:nvSpPr>
        <p:spPr>
          <a:xfrm>
            <a:off x="3388198" y="573413"/>
            <a:ext cx="6007009" cy="505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9618E4-B710-75E7-A523-1CECAF46E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0582" y="1720840"/>
            <a:ext cx="790513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 C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hest X-Ray Anomaly detection is an important medical imaging task used to identify multiple thoracic abnormalities such as pneumonia, edema, fibrosis, and cardiomegaly.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Recent studies on the NIH ChestX-ray14 dataset have demonstrated that CNN and Transformer-based architectures achieve superior performance in multi-label chest disease classification. 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models effectively capture local image features, while Transformer models excel at learning global contextual relationships, resulting in high diagnostic accuracy.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same time, recent research has introduced Mamba State Space Models (SSMs) as a computationally efficient alternative.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3950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9EE11-AD43-C853-BD8E-5056246156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6188" y="542986"/>
            <a:ext cx="10363200" cy="553998"/>
          </a:xfrm>
        </p:spPr>
        <p:txBody>
          <a:bodyPr/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Objective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444588-A9D7-13C7-D579-C0A2024A0D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9407" y="2182505"/>
            <a:ext cx="7639666" cy="2492990"/>
          </a:xfrm>
        </p:spPr>
        <p:txBody>
          <a:bodyPr/>
          <a:lstStyle/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studies indicate that Mamba-based models still underperform compared to CNN and Transformer baselines when detecting complex thoracic abnormalities in chest X-ray images. 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1800" dirty="0"/>
              <a:t>The increasing volume of medical imaging data creates a need for efficient and reliable AI-based diagnostic solutions.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1800" dirty="0"/>
              <a:t>Understanding the capabilities of CNN, Transformer, and Mamba architectures is essential for developing next-generation medical imaging systems.</a:t>
            </a: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performance gap highlights the need for a deeper investigation into the strengths and limitations of Mamba architectures for medical image analysis.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IN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00643-B4E1-CB42-F1D8-9FC64C0F91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69FADD-1F46-FD6C-3E44-E0EA6DBE3206}"/>
              </a:ext>
            </a:extLst>
          </p:cNvPr>
          <p:cNvSpPr txBox="1"/>
          <p:nvPr/>
        </p:nvSpPr>
        <p:spPr>
          <a:xfrm>
            <a:off x="4552336" y="5453239"/>
            <a:ext cx="70202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2"/>
              </a:rPr>
              <a:t>https://github.com/bawyasrik31/Reserchproject.git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2454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9030E-AE4B-4E06-A55B-3F7A7756E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89D89-F263-6E34-2E57-8162397A84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6188" y="248018"/>
            <a:ext cx="10363200" cy="553998"/>
          </a:xfrm>
        </p:spPr>
        <p:txBody>
          <a:bodyPr/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546476-9AD1-AA21-3DC3-9BF366CE64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F22BC0-508E-570A-78A5-0C692257DB0A}"/>
              </a:ext>
            </a:extLst>
          </p:cNvPr>
          <p:cNvSpPr txBox="1"/>
          <p:nvPr/>
        </p:nvSpPr>
        <p:spPr>
          <a:xfrm>
            <a:off x="1911686" y="1453714"/>
            <a:ext cx="9122593" cy="4547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 dirty="0"/>
              <a:t>The dataset contains high-resolution chest X-ray images, requiring models to process large amounts of visual information efficiently.</a:t>
            </a:r>
          </a:p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 dirty="0"/>
              <a:t>Significant grayscale intensity variations exist due to differences in imaging conditions, patient positioning, and acquisition settings.</a:t>
            </a:r>
          </a:p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 dirty="0"/>
              <a:t>Presence of overlapping anatomical structures (ribs, heart, lungs, clavicles, soft tissues) makes disease localization and feature extraction difficult.</a:t>
            </a:r>
          </a:p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 dirty="0"/>
              <a:t>The dataset is weakly supervised, where labels are image-level annotations and may not provide precise disease localization.</a:t>
            </a:r>
          </a:p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 dirty="0"/>
              <a:t>There is a lack of comprehensive studies evaluating CNN, Transformer, and Mamba architectures together on weakly supervised chest X-ray datasets.</a:t>
            </a:r>
          </a:p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 dirty="0"/>
              <a:t>Addressing this research gap will provide valuable insights into the effectiveness of emerging architectures for medical image analysis.</a:t>
            </a:r>
          </a:p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8722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2C7E0-69B4-F9C3-B8E6-C27DC50D2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E249C8-AF18-4336-96DE-852A08E149E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722537" y="6357593"/>
            <a:ext cx="245109" cy="281304"/>
          </a:xfrm>
        </p:spPr>
        <p:txBody>
          <a:bodyPr/>
          <a:lstStyle/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Google Shape;73;g2588bb4af59_0_6">
            <a:extLst>
              <a:ext uri="{FF2B5EF4-FFF2-40B4-BE49-F238E27FC236}">
                <a16:creationId xmlns:a16="http://schemas.microsoft.com/office/drawing/2014/main" id="{10778B22-C1A5-41FB-268D-80E0B0E10C18}"/>
              </a:ext>
            </a:extLst>
          </p:cNvPr>
          <p:cNvSpPr txBox="1">
            <a:spLocks/>
          </p:cNvSpPr>
          <p:nvPr/>
        </p:nvSpPr>
        <p:spPr>
          <a:xfrm>
            <a:off x="3388198" y="573413"/>
            <a:ext cx="6007009" cy="997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 algn="ctr"/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Samples of Chest Radiographs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B005EF-44A6-67C3-BB9D-CFCCD340C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200" y="2261418"/>
            <a:ext cx="3256059" cy="30135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A1D7C19-D965-69AF-8B89-E5DC4E680B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6797" y="2261417"/>
            <a:ext cx="2762865" cy="301286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7D39360-B0AB-3AF9-51D0-A2BE3A24E0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4201" y="2261418"/>
            <a:ext cx="2762865" cy="301286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10E94C9-20F0-11E7-08A3-525AC5D91480}"/>
              </a:ext>
            </a:extLst>
          </p:cNvPr>
          <p:cNvSpPr txBox="1"/>
          <p:nvPr/>
        </p:nvSpPr>
        <p:spPr>
          <a:xfrm>
            <a:off x="1610229" y="5519325"/>
            <a:ext cx="3048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Overlapping Anatomical Structure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FD9A2E-75EA-373D-8C19-4EF6772BF65B}"/>
              </a:ext>
            </a:extLst>
          </p:cNvPr>
          <p:cNvSpPr txBox="1"/>
          <p:nvPr/>
        </p:nvSpPr>
        <p:spPr>
          <a:xfrm>
            <a:off x="5614219" y="5519325"/>
            <a:ext cx="23695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High Resolution Image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3DAA75-B74E-F49E-F093-B8F592E80AEF}"/>
              </a:ext>
            </a:extLst>
          </p:cNvPr>
          <p:cNvSpPr txBox="1"/>
          <p:nvPr/>
        </p:nvSpPr>
        <p:spPr>
          <a:xfrm>
            <a:off x="9395207" y="5519324"/>
            <a:ext cx="19467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Grayscale Variation</a:t>
            </a:r>
          </a:p>
        </p:txBody>
      </p:sp>
    </p:spTree>
    <p:extLst>
      <p:ext uri="{BB962C8B-B14F-4D97-AF65-F5344CB8AC3E}">
        <p14:creationId xmlns:p14="http://schemas.microsoft.com/office/powerpoint/2010/main" val="2730213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007CF-9DD8-A1C2-BF67-68406DF1A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4480" y="443042"/>
            <a:ext cx="7020559" cy="553998"/>
          </a:xfrm>
        </p:spPr>
        <p:txBody>
          <a:bodyPr/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0521C8-81EF-F817-E458-AC648299FE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7ECFDFB-5307-0F8F-27E7-B8CA544D2B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5929122"/>
              </p:ext>
            </p:extLst>
          </p:nvPr>
        </p:nvGraphicFramePr>
        <p:xfrm>
          <a:off x="1478278" y="1317359"/>
          <a:ext cx="9801112" cy="5073792"/>
        </p:xfrm>
        <a:graphic>
          <a:graphicData uri="http://schemas.openxmlformats.org/drawingml/2006/table">
            <a:tbl>
              <a:tblPr>
                <a:tableStyleId>{491DBE5D-E312-4B21-9E5E-1AE7C8B9E3E7}</a:tableStyleId>
              </a:tblPr>
              <a:tblGrid>
                <a:gridCol w="1149102">
                  <a:extLst>
                    <a:ext uri="{9D8B030D-6E8A-4147-A177-3AD203B41FA5}">
                      <a16:colId xmlns:a16="http://schemas.microsoft.com/office/drawing/2014/main" val="2101616111"/>
                    </a:ext>
                  </a:extLst>
                </a:gridCol>
                <a:gridCol w="2117934">
                  <a:extLst>
                    <a:ext uri="{9D8B030D-6E8A-4147-A177-3AD203B41FA5}">
                      <a16:colId xmlns:a16="http://schemas.microsoft.com/office/drawing/2014/main" val="868943022"/>
                    </a:ext>
                  </a:extLst>
                </a:gridCol>
                <a:gridCol w="1633519">
                  <a:extLst>
                    <a:ext uri="{9D8B030D-6E8A-4147-A177-3AD203B41FA5}">
                      <a16:colId xmlns:a16="http://schemas.microsoft.com/office/drawing/2014/main" val="270732860"/>
                    </a:ext>
                  </a:extLst>
                </a:gridCol>
                <a:gridCol w="1633519">
                  <a:extLst>
                    <a:ext uri="{9D8B030D-6E8A-4147-A177-3AD203B41FA5}">
                      <a16:colId xmlns:a16="http://schemas.microsoft.com/office/drawing/2014/main" val="4004798443"/>
                    </a:ext>
                  </a:extLst>
                </a:gridCol>
                <a:gridCol w="1633519">
                  <a:extLst>
                    <a:ext uri="{9D8B030D-6E8A-4147-A177-3AD203B41FA5}">
                      <a16:colId xmlns:a16="http://schemas.microsoft.com/office/drawing/2014/main" val="3682232210"/>
                    </a:ext>
                  </a:extLst>
                </a:gridCol>
                <a:gridCol w="1633519">
                  <a:extLst>
                    <a:ext uri="{9D8B030D-6E8A-4147-A177-3AD203B41FA5}">
                      <a16:colId xmlns:a16="http://schemas.microsoft.com/office/drawing/2014/main" val="1026725569"/>
                    </a:ext>
                  </a:extLst>
                </a:gridCol>
              </a:tblGrid>
              <a:tr h="2258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‘</a:t>
                      </a:r>
                    </a:p>
                  </a:txBody>
                  <a:tcPr marL="21725" marR="21725" marT="10863" marB="1086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</a:p>
                  </a:txBody>
                  <a:tcPr marL="21725" marR="21725" marT="10863" marB="10863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Used</a:t>
                      </a:r>
                    </a:p>
                  </a:txBody>
                  <a:tcPr marL="21725" marR="21725" marT="10863" marB="1086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Takeaway</a:t>
                      </a:r>
                    </a:p>
                  </a:txBody>
                  <a:tcPr marL="21725" marR="21725" marT="10863" marB="10863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 / Findings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5635537"/>
                  </a:ext>
                </a:extLst>
              </a:tr>
              <a:tr h="1033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1725" marR="21725" marT="10863" marB="1086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Multimodal Masked Siamese Network Improves Chest X-ray Representation Learning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725" marR="21725" marT="10863" marB="10863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Saeed Shurrab et al.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Self-supervised multimodal learning using a Siamese Network that learns from images and associated information.</a:t>
                      </a:r>
                    </a:p>
                  </a:txBody>
                  <a:tcPr marL="21725" marR="21725" marT="10863" marB="1086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Effective feature extraction can be achieved even with limited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labeled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data.</a:t>
                      </a:r>
                    </a:p>
                  </a:txBody>
                  <a:tcPr marL="21725" marR="21725" marT="10863" marB="10863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AUROC reported: 0.751 (75.1%).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50994576"/>
                  </a:ext>
                </a:extLst>
              </a:tr>
              <a:tr h="12349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1725" marR="21725" marT="10863" marB="1086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Deep-Learning-Based Framework for Identifying and Localizing Multiple Abnormalities and Assessing Cardiomegaly in Chest X-ray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725" marR="21725" marT="10863" marB="10863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Weijie Fan et al.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CNN-based framework for disease classification and localization.</a:t>
                      </a:r>
                    </a:p>
                  </a:txBody>
                  <a:tcPr marL="21725" marR="21725" marT="10863" marB="1086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both disease prediction and localization, improving interpretability.</a:t>
                      </a:r>
                    </a:p>
                  </a:txBody>
                  <a:tcPr marL="21725" marR="21725" marT="10863" marB="10863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CTR ICC &gt; 0.95 on test datasets</a:t>
                      </a:r>
                      <a:r>
                        <a:rPr lang="en-IN" sz="1200" dirty="0"/>
                        <a:t>.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18838083"/>
                  </a:ext>
                </a:extLst>
              </a:tr>
              <a:tr h="1033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21725" marR="21725" marT="10863" marB="1086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Semantically Redundant Training Data Removal and Deep Model Classification Performance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725" marR="21725" marT="10863" marB="10863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Sivaramakrishnan Rajaraman et al.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Semantic filtering of training data before CNN model training.</a:t>
                      </a:r>
                    </a:p>
                  </a:txBody>
                  <a:tcPr marL="21725" marR="21725" marT="10863" marB="1086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Better data quality leads to better classification performance.</a:t>
                      </a:r>
                    </a:p>
                  </a:txBody>
                  <a:tcPr marL="21725" marR="21725" marT="10863" marB="10863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dirty="0"/>
                        <a:t>Internal test Recall = 0.7164 vs 0.6597; External test Recall = 0.3185 vs 0.2589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2570843"/>
                  </a:ext>
                </a:extLst>
              </a:tr>
              <a:tr h="6294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21725" marR="21725" marT="10863" marB="1086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BarlowTwins-CXR: Enhancing Chest X-ray Abnormality Localization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725" marR="21725" marT="10863" marB="10863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Haoyue Sheng et al.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Barlow Twins self-supervised learning framework.</a:t>
                      </a:r>
                    </a:p>
                  </a:txBody>
                  <a:tcPr marL="21725" marR="21725" marT="10863" marB="1086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Reduces dependence on costly expert annotations.</a:t>
                      </a:r>
                    </a:p>
                  </a:txBody>
                  <a:tcPr marL="21725" marR="21725" marT="10863" marB="10863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dirty="0"/>
                        <a:t>Best </a:t>
                      </a:r>
                      <a:r>
                        <a:rPr lang="en-IN" sz="1200" b="0" dirty="0" err="1"/>
                        <a:t>mAP</a:t>
                      </a:r>
                      <a:r>
                        <a:rPr lang="en-IN" sz="1200" b="0" dirty="0"/>
                        <a:t>: 25.02% Improvement:  3% over baseline.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12220127"/>
                  </a:ext>
                </a:extLst>
              </a:tr>
              <a:tr h="8313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21725" marR="21725" marT="10863" marB="1086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Lightweight Convolutional Neural Network for Chest X-ray Images Classification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725" marR="21725" marT="10863" marB="10863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Chih-Ta Yen, Chia-Yu Tsao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Lightweight CNN architecture.</a:t>
                      </a:r>
                    </a:p>
                  </a:txBody>
                  <a:tcPr marL="21725" marR="21725" marT="10863" marB="1086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Suitable for deployment on systems with limited hardware resources.</a:t>
                      </a:r>
                    </a:p>
                  </a:txBody>
                  <a:tcPr marL="21725" marR="21725" marT="10863" marB="10863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competitive classification accuracy with reduced computational cost.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74138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7640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DEAFCC-3F8B-68A7-1DB9-5CA5CD8756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350FB03-EEEB-658D-D626-C7B5473309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9608173"/>
              </p:ext>
            </p:extLst>
          </p:nvPr>
        </p:nvGraphicFramePr>
        <p:xfrm>
          <a:off x="1430266" y="801586"/>
          <a:ext cx="9989070" cy="5171388"/>
        </p:xfrm>
        <a:graphic>
          <a:graphicData uri="http://schemas.openxmlformats.org/drawingml/2006/table">
            <a:tbl>
              <a:tblPr>
                <a:tableStyleId>{491DBE5D-E312-4B21-9E5E-1AE7C8B9E3E7}</a:tableStyleId>
              </a:tblPr>
              <a:tblGrid>
                <a:gridCol w="1227667">
                  <a:extLst>
                    <a:ext uri="{9D8B030D-6E8A-4147-A177-3AD203B41FA5}">
                      <a16:colId xmlns:a16="http://schemas.microsoft.com/office/drawing/2014/main" val="1679802239"/>
                    </a:ext>
                  </a:extLst>
                </a:gridCol>
                <a:gridCol w="2102023">
                  <a:extLst>
                    <a:ext uri="{9D8B030D-6E8A-4147-A177-3AD203B41FA5}">
                      <a16:colId xmlns:a16="http://schemas.microsoft.com/office/drawing/2014/main" val="2510854802"/>
                    </a:ext>
                  </a:extLst>
                </a:gridCol>
                <a:gridCol w="1664845">
                  <a:extLst>
                    <a:ext uri="{9D8B030D-6E8A-4147-A177-3AD203B41FA5}">
                      <a16:colId xmlns:a16="http://schemas.microsoft.com/office/drawing/2014/main" val="3644450206"/>
                    </a:ext>
                  </a:extLst>
                </a:gridCol>
                <a:gridCol w="1664845">
                  <a:extLst>
                    <a:ext uri="{9D8B030D-6E8A-4147-A177-3AD203B41FA5}">
                      <a16:colId xmlns:a16="http://schemas.microsoft.com/office/drawing/2014/main" val="1985083361"/>
                    </a:ext>
                  </a:extLst>
                </a:gridCol>
                <a:gridCol w="1664845">
                  <a:extLst>
                    <a:ext uri="{9D8B030D-6E8A-4147-A177-3AD203B41FA5}">
                      <a16:colId xmlns:a16="http://schemas.microsoft.com/office/drawing/2014/main" val="30716195"/>
                    </a:ext>
                  </a:extLst>
                </a:gridCol>
                <a:gridCol w="1664845">
                  <a:extLst>
                    <a:ext uri="{9D8B030D-6E8A-4147-A177-3AD203B41FA5}">
                      <a16:colId xmlns:a16="http://schemas.microsoft.com/office/drawing/2014/main" val="1957769906"/>
                    </a:ext>
                  </a:extLst>
                </a:gridCol>
              </a:tblGrid>
              <a:tr h="1895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412" marR="19412" marT="9706" marB="970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</a:p>
                  </a:txBody>
                  <a:tcPr marL="19412" marR="19412" marT="9706" marB="970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</a:t>
                      </a:r>
                    </a:p>
                  </a:txBody>
                  <a:tcPr marL="19412" marR="19412" marT="9706" marB="970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Used</a:t>
                      </a:r>
                    </a:p>
                  </a:txBody>
                  <a:tcPr marL="19412" marR="19412" marT="9706" marB="970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Takeaway</a:t>
                      </a:r>
                    </a:p>
                  </a:txBody>
                  <a:tcPr marL="19412" marR="19412" marT="9706" marB="9706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 / Findings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29666205"/>
                  </a:ext>
                </a:extLst>
              </a:tr>
              <a:tr h="9880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19412" marR="19412" marT="9706" marB="970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 Improves Physician Accuracy in the Comprehensive Detection of Abnormalities on Chest X-rays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412" marR="19412" marT="9706" marB="9706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Pamela G. Anderson et al.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Learning-based Computer-Aided Diagnosis (CAD) system.</a:t>
                      </a:r>
                    </a:p>
                  </a:txBody>
                  <a:tcPr marL="19412" marR="19412" marT="9706" marB="970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can assist radiologists and improve diagnostic accuracy.</a:t>
                      </a:r>
                    </a:p>
                  </a:txBody>
                  <a:tcPr marL="19412" marR="19412" marT="9706" marB="9706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System AUC: 97.6%</a:t>
                      </a: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en-IN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External Validation AUC: 97.5%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91165179"/>
                  </a:ext>
                </a:extLst>
              </a:tr>
              <a:tr h="13872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19412" marR="19412" marT="9706" marB="970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Comparative Analysis of the Mamba, Transformer, and CNN Architectures for Multi-Label Chest X-Ray Anomaly Detection in the NIH ChestX-Ray14 Dataset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412" marR="19412" marT="9706" marB="9706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Erdem Yanar et al.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Comparative study using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DenseNet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EfficientNet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ConvFormer, Swin Transformer,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VMamba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and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MedMamba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19412" marR="19412" marT="9706" marB="970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Transformers achieved the best performance, while Mamba provided computational efficiency but lower accuracy.</a:t>
                      </a:r>
                    </a:p>
                  </a:txBody>
                  <a:tcPr marL="19412" marR="19412" marT="9706" marB="9706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ConvFormer Mean AUROC = 0.841 Hernia 94% AUROC, Cardiomegaly 91% AUROC, Edema/Effusion 88% AUROC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58610544"/>
                  </a:ext>
                </a:extLst>
              </a:tr>
              <a:tr h="9880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19412" marR="19412" marT="9706" marB="970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Pretraining Diversity and Clinical Metric Optimization Achieve State-of-the-Art Performance on ChestX-ray14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412" marR="19412" marT="9706" marB="9706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George Fisher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Ensemble learning using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ConvNeXt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models.</a:t>
                      </a:r>
                    </a:p>
                  </a:txBody>
                  <a:tcPr marL="19412" marR="19412" marT="9706" marB="970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Combining multiple pretrained models improves diagnostic performance.</a:t>
                      </a:r>
                    </a:p>
                  </a:txBody>
                  <a:tcPr marL="19412" marR="19412" marT="9706" marB="97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Internal test Recall = 0.7164 vs 0.6597; External test Recall = 0.3185 vs 0.2589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825828"/>
                  </a:ext>
                </a:extLst>
              </a:tr>
              <a:tr h="8549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19412" marR="19412" marT="9706" marB="970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Reproducing and Improving CheXNet: Deep Learning for Chest X-ray Disease Classification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412" marR="19412" marT="9706" marB="9706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Daniel Strick et al.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training strategies and CheXNet architecture enhancements.</a:t>
                      </a:r>
                    </a:p>
                  </a:txBody>
                  <a:tcPr marL="19412" marR="19412" marT="9706" marB="970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state-of-the-art models can still be improved with better optimization techniques.</a:t>
                      </a:r>
                    </a:p>
                  </a:txBody>
                  <a:tcPr marL="19412" marR="19412" marT="9706" marB="97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AUC-ROC: 85% Average F1-Score: 39%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00205"/>
                  </a:ext>
                </a:extLst>
              </a:tr>
              <a:tr h="7218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19412" marR="19412" marT="9706" marB="970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Multi-pathology Chest X-ray Classification with Rejection Mechanisms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412" marR="19412" marT="9706" marB="9706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Yehudit </a:t>
                      </a:r>
                      <a:r>
                        <a:rPr lang="en-IN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Aperstein</a:t>
                      </a: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DenseNet-121 with uncertainty-aware classification and rejection mechanism.</a:t>
                      </a:r>
                    </a:p>
                  </a:txBody>
                  <a:tcPr marL="19412" marR="19412" marT="9706" marB="970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systems become more trustworthy when they can identify uncertain cases.</a:t>
                      </a:r>
                    </a:p>
                  </a:txBody>
                  <a:tcPr marL="19412" marR="19412" marT="9706" marB="9706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Entropy-based rejec</a:t>
                      </a:r>
                      <a:r>
                        <a:rPr lang="en-IN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tion achieved the highest average AUC among tested methods.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827562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567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A4BCC-A5EE-5DC1-CEF5-B77E2D051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F471A-3F0B-1820-1DDC-786332BE63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7628" y="491858"/>
            <a:ext cx="10363200" cy="553998"/>
          </a:xfrm>
        </p:spPr>
        <p:txBody>
          <a:bodyPr/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 of the Project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829362-1B8D-9B96-98AF-44C0E6BE4AD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034279" y="6481823"/>
            <a:ext cx="505680" cy="314391"/>
          </a:xfrm>
        </p:spPr>
        <p:txBody>
          <a:bodyPr/>
          <a:lstStyle/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67D12B-E534-3A85-DB2A-59EE1CAFA3FC}"/>
              </a:ext>
            </a:extLst>
          </p:cNvPr>
          <p:cNvSpPr txBox="1"/>
          <p:nvPr/>
        </p:nvSpPr>
        <p:spPr>
          <a:xfrm>
            <a:off x="2116422" y="1640469"/>
            <a:ext cx="8571242" cy="4246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evaluation of CNN, Transformer, and Mamba architectures for chest X-ray disease classification.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Investigation of model performance on: </a:t>
            </a:r>
          </a:p>
          <a:p>
            <a:pPr lvl="8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High-resolution chest X-ray images </a:t>
            </a:r>
          </a:p>
          <a:p>
            <a:pPr lvl="8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Grayscale intensity variations </a:t>
            </a:r>
          </a:p>
          <a:p>
            <a:pPr lvl="8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Overlapping anatomical structures </a:t>
            </a:r>
          </a:p>
          <a:p>
            <a:pPr lvl="8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Weakly supervised disease labels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Inclusion of recent Mamba-based models (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VMamba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MedMamba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alongside established CNN and Transformer architectures.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of the most suitable architecture for large-scale chest X-ray disease classification.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determine the most effective and computationally efficient deep learning architecture for weakly supervised chest X-ray disease classification through a comprehensive comparative study of CNN, Transformer, and Mamba models.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IN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3599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16C73-5ECD-F3FC-8376-773B07608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AAA0A-1056-44D0-BA23-02BC7EEA35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6188" y="542986"/>
            <a:ext cx="10363200" cy="553998"/>
          </a:xfrm>
        </p:spPr>
        <p:txBody>
          <a:bodyPr/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Domain Specifications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650F31-7DCA-04FD-CBB6-B25EA3CA6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84439" y="1767006"/>
            <a:ext cx="8534400" cy="3877985"/>
          </a:xfrm>
        </p:spPr>
        <p:txBody>
          <a:bodyPr/>
          <a:lstStyle/>
          <a:p>
            <a:pPr marL="228600" indent="0" algn="just"/>
            <a:r>
              <a:rPr lang="en-IN" sz="1800" b="1" dirty="0"/>
              <a:t>CNN Models:</a:t>
            </a:r>
          </a:p>
          <a:p>
            <a:pPr marL="228600" indent="0" algn="just"/>
            <a:endParaRPr lang="en-IN" sz="1800" b="1" dirty="0"/>
          </a:p>
          <a:p>
            <a:pPr marL="51435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DenseNet121</a:t>
            </a:r>
            <a:endParaRPr lang="en-IN" sz="1800" dirty="0"/>
          </a:p>
          <a:p>
            <a:pPr marL="228600" indent="0" algn="just"/>
            <a:r>
              <a:rPr lang="en-IN" sz="1800" dirty="0"/>
              <a:t>	Reuses features through dense connections, improving information flow and 	classification performance. </a:t>
            </a:r>
          </a:p>
          <a:p>
            <a:pPr marL="51435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ResNet34</a:t>
            </a:r>
            <a:endParaRPr lang="en-IN" sz="1800" dirty="0"/>
          </a:p>
          <a:p>
            <a:pPr marL="228600" indent="0" algn="just"/>
            <a:r>
              <a:rPr lang="en-IN" sz="1800" dirty="0"/>
              <a:t>	Uses residual connections to enable deep feature learning and reduce training 	difficulties. </a:t>
            </a:r>
          </a:p>
          <a:p>
            <a:pPr marL="51435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InceptionV3</a:t>
            </a:r>
            <a:endParaRPr lang="en-IN" sz="1800" dirty="0"/>
          </a:p>
          <a:p>
            <a:pPr marL="228600" indent="0" algn="just"/>
            <a:r>
              <a:rPr lang="en-IN" sz="1800" dirty="0"/>
              <a:t>	Extracts features at multiple scales using different filter sizes simultaneously. </a:t>
            </a:r>
          </a:p>
          <a:p>
            <a:pPr marL="51435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EfficientNet-B0</a:t>
            </a:r>
            <a:endParaRPr lang="en-IN" sz="1800" dirty="0"/>
          </a:p>
          <a:p>
            <a:pPr marL="228600" indent="0" algn="just"/>
            <a:r>
              <a:rPr lang="en-IN" sz="1800" dirty="0"/>
              <a:t>	Achieves high accuracy with lower computational cost through optimized network 	scaling. </a:t>
            </a:r>
          </a:p>
          <a:p>
            <a:pPr marL="571500" indent="-342900" algn="just">
              <a:buFont typeface="Arial" panose="020B0604020202020204" pitchFamily="34" charset="0"/>
              <a:buChar char="•"/>
            </a:pPr>
            <a:endParaRPr lang="en-IN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210BB5-F276-0657-DE95-CD1CEB513A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910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70406-D64F-0466-D57A-0EBFDD5F1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AEE20-0773-C703-A4E6-AED0B80A9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6188" y="248018"/>
            <a:ext cx="10363200" cy="553998"/>
          </a:xfrm>
        </p:spPr>
        <p:txBody>
          <a:bodyPr/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Domain Specifications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9DAB29-C0DA-DDBA-7BF4-AD3EE53826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0142" y="1118078"/>
            <a:ext cx="9763432" cy="5816977"/>
          </a:xfrm>
        </p:spPr>
        <p:txBody>
          <a:bodyPr/>
          <a:lstStyle/>
          <a:p>
            <a:pPr marL="228600" indent="0" algn="just"/>
            <a:r>
              <a:rPr lang="en-IN" sz="1800" b="1" dirty="0"/>
              <a:t>Transformer Models:</a:t>
            </a:r>
          </a:p>
          <a:p>
            <a:pPr marL="228600" indent="0" algn="just"/>
            <a:endParaRPr lang="en-IN" sz="1800" b="1" dirty="0"/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ConvFormer</a:t>
            </a:r>
            <a:endParaRPr lang="en-IN" sz="1800" dirty="0"/>
          </a:p>
          <a:p>
            <a:pPr marL="228600" indent="0"/>
            <a:r>
              <a:rPr lang="en-IN" sz="1800" dirty="0"/>
              <a:t>	Combines convolution and self-attention to capture both local and global image 	features. 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IN" sz="1800" b="1" dirty="0" err="1"/>
              <a:t>CaFormer</a:t>
            </a:r>
            <a:endParaRPr lang="en-IN" sz="1800" dirty="0"/>
          </a:p>
          <a:p>
            <a:pPr marL="228600" indent="0"/>
            <a:r>
              <a:rPr lang="en-IN" sz="1800" dirty="0"/>
              <a:t>	Integrates convolution and attention mechanisms for efficient feature extraction. 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Swin Transformer</a:t>
            </a:r>
            <a:endParaRPr lang="en-IN" sz="1800" dirty="0"/>
          </a:p>
          <a:p>
            <a:pPr marL="228600" indent="0"/>
            <a:r>
              <a:rPr lang="en-IN" sz="1800" dirty="0"/>
              <a:t>	Uses shifted window attention to learn long-range image dependencies efficiently. 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IN" sz="1800" b="1" dirty="0" err="1"/>
              <a:t>DeiT</a:t>
            </a:r>
            <a:endParaRPr lang="en-IN" sz="1800" dirty="0"/>
          </a:p>
          <a:p>
            <a:pPr marL="228600" indent="0"/>
            <a:r>
              <a:rPr lang="en-IN" sz="1800" dirty="0"/>
              <a:t>	A data-efficient Transformer that achieves strong performance with reduced 	training requirements.</a:t>
            </a:r>
          </a:p>
          <a:p>
            <a:endParaRPr lang="en-IN" sz="1800" b="1" dirty="0"/>
          </a:p>
          <a:p>
            <a:r>
              <a:rPr lang="en-IN" sz="1800" b="1" dirty="0"/>
              <a:t>Mamba Models:</a:t>
            </a:r>
          </a:p>
          <a:p>
            <a:endParaRPr lang="en-IN" sz="1800" b="1" dirty="0"/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IN" sz="1800" b="1" dirty="0" err="1"/>
              <a:t>VMamba</a:t>
            </a:r>
            <a:endParaRPr lang="en-IN" sz="1800" dirty="0"/>
          </a:p>
          <a:p>
            <a:pPr marL="228600" indent="0"/>
            <a:r>
              <a:rPr lang="en-IN" sz="1800" dirty="0"/>
              <a:t>	Vision-based Mamba architecture that efficiently captures long-range image 	features. 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IN" sz="1800" b="1" dirty="0" err="1"/>
              <a:t>MedMamba</a:t>
            </a:r>
            <a:endParaRPr lang="en-IN" sz="1800" dirty="0"/>
          </a:p>
          <a:p>
            <a:pPr marL="228600" indent="0"/>
            <a:r>
              <a:rPr lang="en-IN" sz="1800" dirty="0"/>
              <a:t>	Medical imaging-focused Mamba model designed for disease classification tasks. </a:t>
            </a:r>
          </a:p>
          <a:p>
            <a:pPr marL="514350" indent="-285750" algn="just">
              <a:buFont typeface="Arial" panose="020B0604020202020204" pitchFamily="34" charset="0"/>
              <a:buChar char="•"/>
            </a:pPr>
            <a:endParaRPr lang="en-IN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AAA0AA-8E53-3E68-DDED-AF332C048D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594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BFC7C-9CE9-FAFB-3478-8FF524D489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34581" y="2525077"/>
            <a:ext cx="10363200" cy="984885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16D7CD-58ED-995A-ED86-288BC280D1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990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757</TotalTime>
  <Words>1198</Words>
  <Application>Microsoft Office PowerPoint</Application>
  <PresentationFormat>Widescreen</PresentationFormat>
  <Paragraphs>160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Problem Objective</vt:lpstr>
      <vt:lpstr>Research Gap</vt:lpstr>
      <vt:lpstr>PowerPoint Presentation</vt:lpstr>
      <vt:lpstr>Literature Survey</vt:lpstr>
      <vt:lpstr>PowerPoint Presentation</vt:lpstr>
      <vt:lpstr>Novelty of the Project</vt:lpstr>
      <vt:lpstr> Domain Specifications</vt:lpstr>
      <vt:lpstr> Domain Specifications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Gokul Senthilkumar</dc:creator>
  <cp:lastModifiedBy>Karunya S</cp:lastModifiedBy>
  <cp:revision>17</cp:revision>
  <dcterms:created xsi:type="dcterms:W3CDTF">2023-02-03T06:11:18Z</dcterms:created>
  <dcterms:modified xsi:type="dcterms:W3CDTF">2026-06-25T10:02:33Z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ICV">
    <vt:lpwstr>CCA21B7555E24D3FB40348EB3CE2AD24</vt:lpwstr>
  </property>
  <property fmtid="{D5CDD505-2E9C-101B-9397-08002B2CF9AE}" pid="4" name="KSOProductBuildVer">
    <vt:lpwstr>1033-11.2.0.11440</vt:lpwstr>
  </property>
</Properties>
</file>